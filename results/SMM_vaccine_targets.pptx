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B2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A8791"/>
                </a:solidFill>
                <a:latin typeface="Consolas"/>
              </a:rPr>
              <a:t>GSE193531 · BOIARSKY ET AL. NAT COMMUN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9326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3161C"/>
                </a:solidFill>
                <a:latin typeface="Libre Franklin"/>
              </a:rPr>
              <a:t>Vaccine targets for</a:t>
            </a:r>
          </a:p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3161C"/>
                </a:solidFill>
                <a:latin typeface="Libre Franklin"/>
              </a:rPr>
              <a:t>smouldering myeloma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404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B5560"/>
                </a:solidFill>
                <a:latin typeface="Source Serif 4"/>
              </a:rPr>
              <a:t>A ranked shortlist for an off-the-shelf preventive vaccine in SMM.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463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3161C"/>
                </a:solidFill>
                <a:latin typeface="Libre Franklin"/>
              </a:rPr>
              <a:t>29,387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394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A8791"/>
                </a:solidFill>
                <a:latin typeface="Consolas"/>
              </a:rPr>
              <a:t>PLASMA 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463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3161C"/>
                </a:solidFill>
                <a:latin typeface="Libre Franklin"/>
              </a:rPr>
              <a:t>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5394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A8791"/>
                </a:solidFill>
                <a:latin typeface="Consolas"/>
              </a:rPr>
              <a:t>PATIENTS · 4 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48463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3161C"/>
                </a:solidFill>
                <a:latin typeface="Libre Franklin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5394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A8791"/>
                </a:solidFill>
                <a:latin typeface="Consolas"/>
              </a:rPr>
              <a:t>CANDIDATES SCORED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48463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9B2C62"/>
                </a:solidFill>
                <a:latin typeface="Libre Franklin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5394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A8791"/>
                </a:solidFill>
                <a:latin typeface="Consolas"/>
              </a:rPr>
              <a:t>SHORTLISTED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8791"/>
                </a:solidFill>
                <a:latin typeface="Consolas"/>
              </a:rPr>
              <a:t>01 · WHAT COUNTS AS A GOOD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3161C"/>
                </a:solidFill>
                <a:latin typeface="Libre Franklin"/>
              </a:rPr>
              <a:t>The product sets the safety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5560"/>
                </a:solidFill>
                <a:latin typeface="Source Serif 4"/>
              </a:rPr>
              <a:t>SMM patients are not yet sick and may never progress. Tolerance for off-tumour toxicity is close to zero.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286000"/>
          <a:ext cx="548639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4216"/>
                <a:gridCol w="741405"/>
                <a:gridCol w="2520778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Evidence layer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Weight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Why that weight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Differential expression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0.30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Most statistically grounded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Normal-tissue safety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0.25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Outlier test over ~50 tissues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Novelty-confidence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0.25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Known biology, existing programs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HLA-I presentation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0.20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Weakest — binding ≠ immunogenicity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228600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6032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F6B67"/>
                </a:solidFill>
              </a:rPr>
              <a:t>▸   </a:t>
            </a:r>
            <a:r>
              <a:rPr sz="1200" b="1">
                <a:solidFill>
                  <a:srgbClr val="23161C"/>
                </a:solidFill>
                <a:latin typeface="Libre Franklin"/>
              </a:rPr>
              <a:t>Shared antigens, not neoantigens. </a:t>
            </a:r>
            <a:r>
              <a:rPr sz="1200">
                <a:solidFill>
                  <a:srgbClr val="6B5560"/>
                </a:solidFill>
                <a:latin typeface="Source Serif 4"/>
              </a:rPr>
              <a:t>No mutation calls here, and an off-the-shelf product needs a shared target.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F6B67"/>
                </a:solidFill>
              </a:rPr>
              <a:t>▸   </a:t>
            </a:r>
            <a:r>
              <a:rPr sz="1200" b="1">
                <a:solidFill>
                  <a:srgbClr val="23161C"/>
                </a:solidFill>
                <a:latin typeface="Libre Franklin"/>
              </a:rPr>
              <a:t>BCMA is correctly absent. </a:t>
            </a:r>
            <a:r>
              <a:rPr sz="1200">
                <a:solidFill>
                  <a:srgbClr val="6B5560"/>
                </a:solidFill>
                <a:latin typeface="Source Serif 4"/>
              </a:rPr>
              <a:t>TNFRSF17 sits at log2FC 0.13 — a plasma-cell marker, not a tumour antigen.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F6B67"/>
                </a:solidFill>
              </a:rPr>
              <a:t>▸   </a:t>
            </a:r>
            <a:r>
              <a:rPr sz="1200" b="1">
                <a:solidFill>
                  <a:srgbClr val="23161C"/>
                </a:solidFill>
                <a:latin typeface="Libre Franklin"/>
              </a:rPr>
              <a:t>Labels are expression-derived. </a:t>
            </a:r>
            <a:r>
              <a:rPr sz="1200">
                <a:solidFill>
                  <a:srgbClr val="6B5560"/>
                </a:solidFill>
                <a:latin typeface="Source Serif 4"/>
              </a:rPr>
              <a:t>Clustering, not inferCNV — so DE against them is partly circular.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8791"/>
                </a:solidFill>
                <a:latin typeface="Consolas"/>
              </a:rPr>
              <a:t>02 · THE COHORT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3161C"/>
                </a:solidFill>
                <a:latin typeface="Libre Franklin"/>
              </a:rPr>
              <a:t>35 patients, one aspirate each</a:t>
            </a:r>
          </a:p>
        </p:txBody>
      </p:sp>
      <p:pic>
        <p:nvPicPr>
          <p:cNvPr id="6" name="Picture 5" descr="cohor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4626864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463040"/>
            <a:ext cx="6126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KEY TERMS IN THIS 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6126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CD138+   </a:t>
            </a:r>
            <a:r>
              <a:rPr sz="1100">
                <a:solidFill>
                  <a:srgbClr val="6B5560"/>
                </a:solidFill>
                <a:latin typeface="Source Serif 4"/>
              </a:rPr>
              <a:t>plasma-cell surface marker — every library is this one sorted fraction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neoplastic PC   </a:t>
            </a:r>
            <a:r>
              <a:rPr sz="1100">
                <a:solidFill>
                  <a:srgbClr val="6B5560"/>
                </a:solidFill>
                <a:latin typeface="Source Serif 4"/>
              </a:rPr>
              <a:t>magenta bar — the malignant plasma cells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normal PC   </a:t>
            </a:r>
            <a:r>
              <a:rPr sz="1100">
                <a:solidFill>
                  <a:srgbClr val="6B5560"/>
                </a:solidFill>
                <a:latin typeface="Source Serif 4"/>
              </a:rPr>
              <a:t>teal bar — residual healthy plasma cells in the same aspirate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tumour fraction   </a:t>
            </a:r>
            <a:r>
              <a:rPr sz="1100">
                <a:solidFill>
                  <a:srgbClr val="6B5560"/>
                </a:solidFill>
                <a:latin typeface="Source Serif 4"/>
              </a:rPr>
              <a:t>right panel: neoplastic ÷ total plasma cells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◆   </a:t>
            </a:r>
            <a:r>
              <a:rPr sz="1100">
                <a:solidFill>
                  <a:srgbClr val="6B5560"/>
                </a:solidFill>
                <a:latin typeface="Source Serif 4"/>
              </a:rPr>
              <a:t>sample has BOTH cell types — the only within-patient comparisons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stage / risk   </a:t>
            </a:r>
            <a:r>
              <a:rPr sz="1100">
                <a:solidFill>
                  <a:srgbClr val="6B5560"/>
                </a:solidFill>
                <a:latin typeface="Source Serif 4"/>
              </a:rPr>
              <a:t>NBM healthy → MGUS → SMM → MM; SMM split high- vs low-risk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126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617720"/>
            <a:ext cx="61264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F6B67"/>
                </a:solidFill>
              </a:rPr>
              <a:t>▸   </a:t>
            </a:r>
            <a:r>
              <a:rPr sz="1200">
                <a:solidFill>
                  <a:srgbClr val="6B5560"/>
                </a:solidFill>
                <a:latin typeface="Source Serif 4"/>
              </a:rPr>
              <a:t>No longitudinal sampling — one aspirate each, so no progression trajectories.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F6B67"/>
                </a:solidFill>
              </a:rPr>
              <a:t>▸   </a:t>
            </a:r>
            <a:r>
              <a:rPr sz="1200">
                <a:solidFill>
                  <a:srgbClr val="6B5560"/>
                </a:solidFill>
                <a:latin typeface="Source Serif 4"/>
              </a:rPr>
              <a:t>Only 11 of 35 are paired (MGUS 3 · SMM 5 · MM 3); the other 24 single-status.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F6B67"/>
                </a:solidFill>
              </a:rPr>
              <a:t>▸   </a:t>
            </a:r>
            <a:r>
              <a:rPr sz="1200" b="1">
                <a:solidFill>
                  <a:srgbClr val="23161C"/>
                </a:solidFill>
                <a:latin typeface="Libre Franklin"/>
              </a:rPr>
              <a:t>Risk recovered from barcodes. </a:t>
            </a:r>
            <a:r>
              <a:rPr sz="1200">
                <a:solidFill>
                  <a:srgbClr val="6B5560"/>
                </a:solidFill>
                <a:latin typeface="Source Serif 4"/>
              </a:rPr>
              <a:t>9 of 12 SMM are high-risk — the enrolment population.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8791"/>
                </a:solidFill>
                <a:latin typeface="Consolas"/>
              </a:rPr>
              <a:t>03 ·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3161C"/>
                </a:solidFill>
                <a:latin typeface="Libre Franklin"/>
              </a:rPr>
              <a:t>From 22,273 genes to 15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45920"/>
            <a:ext cx="7863840" cy="329184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0992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8791"/>
                </a:solidFill>
                <a:latin typeface="Consolas"/>
              </a:rPr>
              <a:t>00–01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700784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B5560"/>
                </a:solidFill>
                <a:latin typeface="Source Serif 4"/>
              </a:rPr>
              <a:t>Fetch GEO + HPA · align, QC, build AnnData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3488" y="1700784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23161C"/>
                </a:solidFill>
                <a:latin typeface="Consolas"/>
              </a:rPr>
              <a:t>22,273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29968"/>
            <a:ext cx="7863840" cy="329184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9397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8791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2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B5560"/>
                </a:solidFill>
                <a:latin typeface="Source Serif 4"/>
              </a:rPr>
              <a:t>Genes with ≥10 pseudobulk 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08483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23161C"/>
                </a:solidFill>
                <a:latin typeface="Consolas"/>
              </a:rPr>
              <a:t>18,582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14016"/>
            <a:ext cx="7863840" cy="329184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7802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8791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468880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B5560"/>
                </a:solidFill>
                <a:latin typeface="Source Serif 4"/>
              </a:rPr>
              <a:t>Significantly up in tumour, in any of three comparisons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24688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23161C"/>
                </a:solidFill>
                <a:latin typeface="Consolas"/>
              </a:rPr>
              <a:t>857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98064"/>
            <a:ext cx="7863840" cy="329184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8620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8791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2852928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B5560"/>
                </a:solidFill>
                <a:latin typeface="Source Serif 4"/>
              </a:rPr>
              <a:t>Admitted on pooled signal must also be up in SMM itself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85292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23161C"/>
                </a:solidFill>
                <a:latin typeface="Consolas"/>
              </a:rPr>
              <a:t>832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182112"/>
            <a:ext cx="7863840" cy="329184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2461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8791"/>
                </a:solidFill>
                <a:latin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236976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B5560"/>
                </a:solidFill>
                <a:latin typeface="Source Serif 4"/>
              </a:rPr>
              <a:t>Drop immunoglobulin / HLA / mitochondrial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32369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23161C"/>
                </a:solidFill>
                <a:latin typeface="Consolas"/>
              </a:rPr>
              <a:t>832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566160"/>
            <a:ext cx="7863840" cy="329184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6301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8791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3621024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B5560"/>
                </a:solidFill>
                <a:latin typeface="Source Serif 4"/>
              </a:rPr>
              <a:t>Expressed ≥5 CPM in ≥half of SMM tumours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3621024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23161C"/>
                </a:solidFill>
                <a:latin typeface="Consolas"/>
              </a:rPr>
              <a:t>242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950208"/>
            <a:ext cx="7863840" cy="329184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142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8791"/>
                </a:solidFill>
                <a:latin typeface="Consolas"/>
              </a:rPr>
              <a:t>02b·03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4005072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B5560"/>
                </a:solidFill>
                <a:latin typeface="Source Serif 4"/>
              </a:rPr>
              <a:t>Reject genes also expressed in brain, heart, other vital tissue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400507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23161C"/>
                </a:solidFill>
                <a:latin typeface="Consolas"/>
              </a:rPr>
              <a:t>146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334256"/>
            <a:ext cx="7863840" cy="329184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39826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8791"/>
                </a:solidFill>
                <a:latin typeface="Consola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389120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B5560"/>
                </a:solidFill>
                <a:latin typeface="Source Serif 4"/>
              </a:rPr>
              <a:t>Top 60 by effect size × reproducibility × tumour specificity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488" y="43891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23161C"/>
                </a:solidFill>
                <a:latin typeface="Consolas"/>
              </a:rPr>
              <a:t>60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718304"/>
            <a:ext cx="7863840" cy="329184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7823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8791"/>
                </a:solidFill>
                <a:latin typeface="Consola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4773168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B5560"/>
                </a:solidFill>
                <a:latin typeface="Source Serif 4"/>
              </a:rPr>
              <a:t>Has a UniProt protein · MHCflurry over 27 alleles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488" y="477316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23161C"/>
                </a:solidFill>
                <a:latin typeface="Consolas"/>
              </a:rPr>
              <a:t>38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102352"/>
            <a:ext cx="7863840" cy="329184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1663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8791"/>
                </a:solidFill>
                <a:latin typeface="Consolas"/>
              </a:rPr>
              <a:t>05·05b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1328" y="5157216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B5560"/>
                </a:solidFill>
                <a:latin typeface="Source Serif 4"/>
              </a:rPr>
              <a:t>Reject known housekeeping and broadly essential genes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3488" y="515721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23161C"/>
                </a:solidFill>
                <a:latin typeface="Consolas"/>
              </a:rPr>
              <a:t>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5486400"/>
            <a:ext cx="7863840" cy="329184"/>
          </a:xfrm>
          <a:prstGeom prst="rect">
            <a:avLst/>
          </a:prstGeom>
          <a:solidFill>
            <a:srgbClr val="F7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55040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9A8791"/>
                </a:solidFill>
                <a:latin typeface="Consola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1328" y="5541264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9B2C62"/>
                </a:solidFill>
                <a:latin typeface="Source Serif 4"/>
              </a:rPr>
              <a:t>Weighted ranking across all four evidence layers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3488" y="5541264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9B2C62"/>
                </a:solidFill>
                <a:latin typeface="Consolas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164592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THE FOUR EVIDENCE LAYERS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192024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50" b="1">
                <a:solidFill>
                  <a:srgbClr val="9B2C62"/>
                </a:solidFill>
                <a:latin typeface="Consolas"/>
              </a:rPr>
              <a:t>02   </a:t>
            </a:r>
            <a:r>
              <a:rPr sz="1050">
                <a:solidFill>
                  <a:srgbClr val="6B5560"/>
                </a:solidFill>
                <a:latin typeface="Source Serif 4"/>
              </a:rPr>
              <a:t>differential expression, three contrasts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9B2C62"/>
                </a:solidFill>
                <a:latin typeface="Consolas"/>
              </a:rPr>
              <a:t>02b   </a:t>
            </a:r>
            <a:r>
              <a:rPr sz="1050">
                <a:solidFill>
                  <a:srgbClr val="6B5560"/>
                </a:solidFill>
                <a:latin typeface="Source Serif 4"/>
              </a:rPr>
              <a:t>normal-tissue restriction, ~50 HPA tissues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9B2C62"/>
                </a:solidFill>
                <a:latin typeface="Consolas"/>
              </a:rPr>
              <a:t>04   </a:t>
            </a:r>
            <a:r>
              <a:rPr sz="1050">
                <a:solidFill>
                  <a:srgbClr val="6B5560"/>
                </a:solidFill>
                <a:latin typeface="Source Serif 4"/>
              </a:rPr>
              <a:t>HLA-I presentation, 27 alleles</a:t>
            </a:r>
          </a:p>
          <a:p>
            <a:pPr>
              <a:spcAft>
                <a:spcPts val="900"/>
              </a:spcAft>
            </a:pPr>
            <a:r>
              <a:rPr sz="1050" b="1">
                <a:solidFill>
                  <a:srgbClr val="9B2C62"/>
                </a:solidFill>
                <a:latin typeface="Consolas"/>
              </a:rPr>
              <a:t>05·05b   </a:t>
            </a:r>
            <a:r>
              <a:rPr sz="1050">
                <a:solidFill>
                  <a:srgbClr val="6B5560"/>
                </a:solidFill>
                <a:latin typeface="Source Serif 4"/>
              </a:rPr>
              <a:t>literature knowledge, via Claude + a fixed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8791"/>
                </a:solidFill>
                <a:latin typeface="Consolas"/>
              </a:rPr>
              <a:t>04 · DIFFERENTIAL EXPRESSION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3161C"/>
                </a:solidFill>
                <a:latin typeface="Libre Franklin"/>
              </a:rPr>
              <a:t>Between people, or within a person?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5560"/>
                </a:solidFill>
                <a:latin typeface="Source Serif 4"/>
              </a:rPr>
              <a:t>"Up in tumour" is ambiguous until you say compared with whose normal cells.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48840"/>
            <a:ext cx="3520440" cy="1371600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24028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A8791"/>
                </a:solidFill>
                <a:latin typeface="Consolas"/>
              </a:rPr>
              <a:t>CONTRAST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3161C"/>
                </a:solidFill>
                <a:latin typeface="Libre Franklin"/>
              </a:rPr>
              <a:t>Tumour vs any normal 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8892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6B5560"/>
                </a:solidFill>
                <a:latin typeface="Source Serif 4"/>
              </a:rPr>
              <a:t>All tumour vs all normal, pooled. Widest net — but mixes healthy donors with patients' own cells.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2148840"/>
            <a:ext cx="3520440" cy="1371600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224028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A8791"/>
                </a:solidFill>
                <a:latin typeface="Consolas"/>
              </a:rPr>
              <a:t>CONTRAST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3161C"/>
                </a:solidFill>
                <a:latin typeface="Libre Franklin"/>
              </a:rPr>
              <a:t>SMM tumour vs a healthy person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78892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6B5560"/>
                </a:solidFill>
                <a:latin typeface="Source Serif 4"/>
              </a:rPr>
              <a:t>12 SMM tumours vs 9 healthy donors. The clinical question, and the effect size used in the score.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4" y="2148840"/>
            <a:ext cx="3520440" cy="1371600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224028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A8791"/>
                </a:solidFill>
                <a:latin typeface="Consolas"/>
              </a:rPr>
              <a:t>CONTRAST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3161C"/>
                </a:solidFill>
                <a:latin typeface="Libre Franklin"/>
              </a:rPr>
              <a:t>Tumour vs the patient's own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78892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6B5560"/>
                </a:solidFill>
                <a:latin typeface="Source Serif 4"/>
              </a:rPr>
              <a:t>The 11 paired patients, each against themselves. Controls for between-person variation.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66928" y="3749039"/>
          <a:ext cx="1106423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939"/>
                <a:gridCol w="1975757"/>
                <a:gridCol w="691515"/>
                <a:gridCol w="4149090"/>
                <a:gridCol w="2766060"/>
                <a:gridCol w="987878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Model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Rows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Normal side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Entry threshold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Admitted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~status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46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9 healthy donors + 14 patients' own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log2FC &gt; 1 · padj &lt; 0.05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629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~status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21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9 healthy donors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log2FC &gt; 1 · padj &lt; 0.05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561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~patient + status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22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the same 11 patients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log2FC &gt; 0.5 · padj &lt; 0.05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21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A ∪ B ∪ C — a gene needs clear only one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857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66928" y="5349240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62356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Union, not intersection. </a:t>
            </a:r>
            <a:r>
              <a:rPr sz="1150">
                <a:solidFill>
                  <a:srgbClr val="6B5560"/>
                </a:solidFill>
                <a:latin typeface="Source Serif 4"/>
              </a:rPr>
              <a:t>One contrast is enough — but anything admitted on pooled signal alone must still be up in SMM itself.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Why B alone is not enough — EPHB1. </a:t>
            </a:r>
            <a:r>
              <a:rPr sz="1150">
                <a:solidFill>
                  <a:srgbClr val="6B5560"/>
                </a:solidFill>
                <a:latin typeface="Source Serif 4"/>
              </a:rPr>
              <a:t>B log2FC 5.87, C log2FC 0.07. Healthy donors sit at 0.0 CPM, so any expression looks enormous.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8791"/>
                </a:solidFill>
                <a:latin typeface="Consolas"/>
              </a:rPr>
              <a:t>05 · BEYOND FOLD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3161C"/>
                </a:solidFill>
                <a:latin typeface="Libre Franklin"/>
              </a:rPr>
              <a:t>Three questions a log2FC cannot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3520440" cy="1783080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9164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A8791"/>
                </a:solidFill>
                <a:latin typeface="Consolas"/>
              </a:rPr>
              <a:t>REPRODUCIBILITY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20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3161C"/>
                </a:solidFill>
                <a:latin typeface="Libre Franklin"/>
              </a:rPr>
              <a:t>Recurrence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67712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6B5560"/>
                </a:solidFill>
                <a:latin typeface="Source Serif 4"/>
              </a:rPr>
              <a:t>In how many of the 11 paired patients is the gene up — log2FC ≥ 0.25 AND ≥5 CPM? Counting, not pooling, so no stage dominates.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600200"/>
            <a:ext cx="3520440" cy="1783080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69164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A8791"/>
                </a:solidFill>
                <a:latin typeface="Consolas"/>
              </a:rPr>
              <a:t>OFF-THE-SHELF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1920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3161C"/>
                </a:solidFill>
                <a:latin typeface="Libre Franklin"/>
              </a:rPr>
              <a:t>SMM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267712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6B5560"/>
                </a:solidFill>
                <a:latin typeface="Source Serif 4"/>
              </a:rPr>
              <a:t>In how many of the 12 SMM tumours is it on at ≥5 CPM? A shared product cannot rest on an antigen most patients lack.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4" y="1600200"/>
            <a:ext cx="3520440" cy="1783080"/>
          </a:xfrm>
          <a:prstGeom prst="rect">
            <a:avLst/>
          </a:prstGeom>
          <a:solidFill>
            <a:srgbClr val="F4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69164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9A8791"/>
                </a:solidFill>
                <a:latin typeface="Consolas"/>
              </a:rPr>
              <a:t>DURABILITY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1920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3161C"/>
                </a:solidFill>
                <a:latin typeface="Libre Franklin"/>
              </a:rPr>
              <a:t>MM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267712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6B5560"/>
                </a:solidFill>
                <a:latin typeface="Source Serif 4"/>
              </a:rPr>
              <a:t>Given at SMM to block progression. An antigen lost on the way to MM fails precisely when it is needed.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03320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WHY EACH GATE EXISTS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977639"/>
            <a:ext cx="53949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Detection-prevalence had to go. </a:t>
            </a:r>
            <a:r>
              <a:rPr sz="1150">
                <a:solidFill>
                  <a:srgbClr val="6B5560"/>
                </a:solidFill>
                <a:latin typeface="Source Serif 4"/>
              </a:rPr>
              <a:t>EDNRB reached rank 5 on a &gt;1-UMI gate while clearing 5 CPM in only 3 of 12 SMM tumours.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Direction alone is not enough. </a:t>
            </a:r>
            <a:r>
              <a:rPr sz="1150">
                <a:solidFill>
                  <a:srgbClr val="6B5560"/>
                </a:solidFill>
                <a:latin typeface="Source Serif 4"/>
              </a:rPr>
              <a:t>NEB in MGUS-3 is 1.3 vs 1.2 CPM. A magnitude gate cut perfect recurrence from 112 genes to 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977639"/>
            <a:ext cx="53035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Specificity is measured on SMM, not pooled. </a:t>
            </a:r>
            <a:r>
              <a:rPr sz="1150">
                <a:solidFill>
                  <a:srgbClr val="6B5560"/>
                </a:solidFill>
                <a:latin typeface="Source Serif 4"/>
              </a:rPr>
              <a:t>The pooled tumour set is 57% MM cells. IFITM1 is 46% of it but only 21% of SMM cells. Spearman between versions: 0.575.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MGUS is annotated, never gated. </a:t>
            </a:r>
            <a:r>
              <a:rPr sz="1150">
                <a:solidFill>
                  <a:srgbClr val="6B5560"/>
                </a:solidFill>
                <a:latin typeface="Source Serif 4"/>
              </a:rPr>
              <a:t>3 samples, 307 tumour cells — subtypes sampled, not biology.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8791"/>
                </a:solidFill>
                <a:latin typeface="Consolas"/>
              </a:rPr>
              <a:t>06 · NORMAL-TISSUE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3161C"/>
                </a:solidFill>
                <a:latin typeface="Libre Franklin"/>
              </a:rPr>
              <a:t>Restricted to which tissue, not how many</a:t>
            </a:r>
          </a:p>
        </p:txBody>
      </p:sp>
      <p:pic>
        <p:nvPicPr>
          <p:cNvPr id="6" name="Picture 5" descr="specificity_vs_h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5334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463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KEY TERMS IN THIS 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x-axis   </a:t>
            </a:r>
            <a:r>
              <a:rPr sz="1100">
                <a:solidFill>
                  <a:srgbClr val="6B5560"/>
                </a:solidFill>
                <a:latin typeface="Source Serif 4"/>
              </a:rPr>
              <a:t>TUMOUR specificity — % SMM tumour cells expressing minus % normal plasma cells. Within-marrow.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y-axis   </a:t>
            </a:r>
            <a:r>
              <a:rPr sz="1100">
                <a:solidFill>
                  <a:srgbClr val="6B5560"/>
                </a:solidFill>
                <a:latin typeface="Source Serif 4"/>
              </a:rPr>
              <a:t>HLA allele coverage — fraction of the 27-allele panel with a strong binder.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colour   </a:t>
            </a:r>
            <a:r>
              <a:rPr sz="1100">
                <a:solidFill>
                  <a:srgbClr val="6B5560"/>
                </a:solidFill>
                <a:latin typeface="Source Serif 4"/>
              </a:rPr>
              <a:t>composite score, the final weighted rank.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15468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NOT THE SAME AS THE 0.25 SAFETY WEIGHT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0" y="3401568"/>
          <a:ext cx="548639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79"/>
                <a:gridCol w="3749039"/>
                <a:gridCol w="1097280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9A8791"/>
                          </a:solidFill>
                          <a:latin typeface="Consolas"/>
                        </a:rPr>
                        <a:t>Tier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9A8791"/>
                          </a:solidFill>
                          <a:latin typeface="Consolas"/>
                        </a:rPr>
                        <a:t>TISSUE safety — restricted to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9A8791"/>
                          </a:solidFill>
                          <a:latin typeface="Consolas"/>
                        </a:rPr>
                        <a:t>Score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1a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bone marrow / lymphoid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1.00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1b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testis — cancer-testis antigen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1.00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elsewhere, non-vital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0.60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neural or vital organ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rejected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nothing — broadly expressed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161C"/>
                          </a:solidFill>
                          <a:latin typeface="Source Serif 4"/>
                        </a:rPr>
                        <a:t>0.20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0" y="51206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376672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F6B67"/>
                </a:solidFill>
              </a:rPr>
              <a:t>▸   </a:t>
            </a:r>
            <a:r>
              <a:rPr sz="1100">
                <a:solidFill>
                  <a:srgbClr val="6B5560"/>
                </a:solidFill>
                <a:latin typeface="Source Serif 4"/>
              </a:rPr>
              <a:t>Two specificities: the x-axis is within marrow, the table across ~50 tissues.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F6B67"/>
                </a:solidFill>
              </a:rPr>
              <a:t>▸   </a:t>
            </a:r>
            <a:r>
              <a:rPr sz="1100" b="1">
                <a:solidFill>
                  <a:srgbClr val="23161C"/>
                </a:solidFill>
                <a:latin typeface="Libre Franklin"/>
              </a:rPr>
              <a:t>It removed 9 of an earlier 15. </a:t>
            </a:r>
            <a:r>
              <a:rPr sz="1100">
                <a:solidFill>
                  <a:srgbClr val="6B5560"/>
                </a:solidFill>
                <a:latin typeface="Source Serif 4"/>
              </a:rPr>
              <a:t>CADM1 retina, CD200 hypothalamus, IFI6 choroid plexus — seven had held the maximum safety score.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F6B67"/>
                </a:solidFill>
              </a:rPr>
              <a:t>▸   </a:t>
            </a:r>
            <a:r>
              <a:rPr sz="1100" b="1">
                <a:solidFill>
                  <a:srgbClr val="23161C"/>
                </a:solidFill>
                <a:latin typeface="Libre Franklin"/>
              </a:rPr>
              <a:t>Marrow pooled with lymphoid, on purpose. </a:t>
            </a:r>
            <a:r>
              <a:rPr sz="1100">
                <a:solidFill>
                  <a:srgbClr val="6B5560"/>
                </a:solidFill>
                <a:latin typeface="Source Serif 4"/>
              </a:rPr>
              <a:t>HPA marrow is 1% plasma cells — a marrow outlier is a myeloid signature.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8791"/>
                </a:solidFill>
                <a:latin typeface="Consolas"/>
              </a:rPr>
              <a:t>07 · THE KNOWLEDGE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3161C"/>
                </a:solidFill>
                <a:latin typeface="Libre Franklin"/>
              </a:rPr>
              <a:t>Two categories, combined by a grid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00200"/>
          <a:ext cx="548639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4206239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Confidence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is it plausibly a myeloma antigen?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established myeloma antigen or oncogene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plausible — pathway, family or lineage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no known myeloma role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D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housekeeping / essential → REJECTED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3108960"/>
          <a:ext cx="548639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4206239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Novelty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how far has it already been developed?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1a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vaccine in clinical study in another cancer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1b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vaccine in clinical study in myeloma — crowded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CAR / antibody / ADC / bispecific in myeloma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published relevance, no clinical program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not previously described as a myeloma marker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600200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THE GRID → NOVELTY_CONFIDENCE, 0–10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847088"/>
          <a:ext cx="52120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76656"/>
                <a:gridCol w="676656"/>
                <a:gridCol w="676656"/>
                <a:gridCol w="676656"/>
                <a:gridCol w="676656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conf ↓ / nov →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1a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1b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9A8791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10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8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–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–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D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61C"/>
                          </a:solidFill>
                          <a:latin typeface="Source Serif 4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80060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WHERE THE NUMBERS COME 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056632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9B2C62"/>
                </a:solidFill>
                <a:latin typeface="Consolas"/>
              </a:rPr>
              <a:t>confidence sets the band   </a:t>
            </a:r>
            <a:r>
              <a:rPr sz="1050">
                <a:solidFill>
                  <a:srgbClr val="6B5560"/>
                </a:solidFill>
                <a:latin typeface="Source Serif 4"/>
              </a:rPr>
              <a:t>A 8–10 · B 6–8 · C 3–5 · D 0. How likely this is a real myeloma antigen.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9B2C62"/>
                </a:solidFill>
                <a:latin typeface="Consolas"/>
              </a:rPr>
              <a:t>novelty positions within it   </a:t>
            </a:r>
            <a:r>
              <a:rPr sz="1050">
                <a:solidFill>
                  <a:srgbClr val="6B5560"/>
                </a:solidFill>
                <a:latin typeface="Source Serif 4"/>
              </a:rPr>
              <a:t>de-risking raises, crowding lowers: 1a &gt; 3 ≈ 2 &gt; 4.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9B2C62"/>
                </a:solidFill>
                <a:latin typeface="Consolas"/>
              </a:rPr>
              <a:t>1b drops out of the band   </a:t>
            </a:r>
            <a:r>
              <a:rPr sz="1050">
                <a:solidFill>
                  <a:srgbClr val="6B5560"/>
                </a:solidFill>
                <a:latin typeface="Source Serif 4"/>
              </a:rPr>
              <a:t>10 → 3 at confidence A. Someone already has a vaccine — that overrides everything else.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37560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93592"/>
            <a:ext cx="5212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F6B67"/>
                </a:solidFill>
              </a:rPr>
              <a:t>▸   </a:t>
            </a:r>
            <a:r>
              <a:rPr sz="1100" b="1">
                <a:solidFill>
                  <a:srgbClr val="23161C"/>
                </a:solidFill>
                <a:latin typeface="Libre Franklin"/>
              </a:rPr>
              <a:t>Why a grid, not a weighted sum. </a:t>
            </a:r>
            <a:r>
              <a:rPr sz="1100">
                <a:solidFill>
                  <a:srgbClr val="6B5560"/>
                </a:solidFill>
                <a:latin typeface="Source Serif 4"/>
              </a:rPr>
              <a:t>Confidence is monotonic — A always beats D. Novelty is not: already in a myeloma trial means validated but taken.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F6B67"/>
                </a:solidFill>
              </a:rPr>
              <a:t>▸   </a:t>
            </a:r>
            <a:r>
              <a:rPr sz="1100" b="1">
                <a:solidFill>
                  <a:srgbClr val="23161C"/>
                </a:solidFill>
                <a:latin typeface="Libre Franklin"/>
              </a:rPr>
              <a:t>These are hand-set ordinals, not fitted values. </a:t>
            </a:r>
            <a:r>
              <a:rPr sz="1100">
                <a:solidFill>
                  <a:srgbClr val="6B5560"/>
                </a:solidFill>
                <a:latin typeface="Source Serif 4"/>
              </a:rPr>
              <a:t>So the ordering is what carries the argument, not the spacing — replacing every value with its pure rank keeps 14 of 15 shortlisted genes.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F6B67"/>
                </a:solidFill>
              </a:rPr>
              <a:t>▸   </a:t>
            </a:r>
            <a:r>
              <a:rPr sz="1100" b="1">
                <a:solidFill>
                  <a:srgbClr val="23161C"/>
                </a:solidFill>
                <a:latin typeface="Libre Franklin"/>
              </a:rPr>
              <a:t>And the ranking barely depends on them. </a:t>
            </a:r>
            <a:r>
              <a:rPr sz="1100">
                <a:solidFill>
                  <a:srgbClr val="6B5560"/>
                </a:solidFill>
                <a:latin typeface="Source Serif 4"/>
              </a:rPr>
              <a:t>Perturbing every cell by ±1 across 500 grids leaves ranks 1–11 unchanged; only slots 14–15 move. The top-left cell is empty in this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8791"/>
                </a:solidFill>
                <a:latin typeface="Consolas"/>
              </a:rPr>
              <a:t>08 · COMPOSITE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3161C"/>
                </a:solidFill>
                <a:latin typeface="Libre Franklin"/>
              </a:rPr>
              <a:t>Where each target's score comes from</a:t>
            </a:r>
          </a:p>
        </p:txBody>
      </p:sp>
      <p:pic>
        <p:nvPicPr>
          <p:cNvPr id="6" name="Picture 5" descr="composit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59740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554480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KEY TERMS IN THIS 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x-axis   </a:t>
            </a:r>
            <a:r>
              <a:rPr sz="1100">
                <a:solidFill>
                  <a:srgbClr val="6B5560"/>
                </a:solidFill>
                <a:latin typeface="Source Serif 4"/>
              </a:rPr>
              <a:t>weighted contribution — each segment is component × its weight; the bar total IS the composite score.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blue   </a:t>
            </a:r>
            <a:r>
              <a:rPr sz="1100">
                <a:solidFill>
                  <a:srgbClr val="6B5560"/>
                </a:solidFill>
                <a:latin typeface="Source Serif 4"/>
              </a:rPr>
              <a:t>DE evidence · 0.30 — log2FC × recurrence × tumour specificity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green   </a:t>
            </a:r>
            <a:r>
              <a:rPr sz="1100">
                <a:solidFill>
                  <a:srgbClr val="6B5560"/>
                </a:solidFill>
                <a:latin typeface="Source Serif 4"/>
              </a:rPr>
              <a:t>HLA presentation · 0.20 — epitope density × allele coverage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orange   </a:t>
            </a:r>
            <a:r>
              <a:rPr sz="1100">
                <a:solidFill>
                  <a:srgbClr val="6B5560"/>
                </a:solidFill>
                <a:latin typeface="Source Serif 4"/>
              </a:rPr>
              <a:t>tissue safety · 0.25 — the tier score from ~50 HPA tissues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pink   </a:t>
            </a:r>
            <a:r>
              <a:rPr sz="1100">
                <a:solidFill>
                  <a:srgbClr val="6B5560"/>
                </a:solidFill>
                <a:latin typeface="Source Serif 4"/>
              </a:rPr>
              <a:t>novelty-confidence · 0.25 — the grid value, rescaled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069080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34340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>
                <a:solidFill>
                  <a:srgbClr val="6B5560"/>
                </a:solidFill>
                <a:latin typeface="Source Serif 4"/>
              </a:rPr>
              <a:t>Read the composition, not the total — a long bar of one colour is fragile.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CCND1 maxes two layers. </a:t>
            </a:r>
            <a:r>
              <a:rPr sz="1150">
                <a:solidFill>
                  <a:srgbClr val="6B5560"/>
                </a:solidFill>
                <a:latin typeface="Source Serif 4"/>
              </a:rPr>
              <a:t>The full 0.30 on DE and the full 0.25 on novelty-confidence — the only gene to top both. Its brake is tissue: tier 2, not lymphoid.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Two targets score zero on a whole layer. </a:t>
            </a:r>
            <a:r>
              <a:rPr sz="1150">
                <a:solidFill>
                  <a:srgbClr val="6B5560"/>
                </a:solidFill>
                <a:latin typeface="Source Serif 4"/>
              </a:rPr>
              <a:t>TBXAS1 and HERC5 contribute nothing from novelty-confidence — a quarter of the scale, empty.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8791"/>
                </a:solidFill>
                <a:latin typeface="Consolas"/>
              </a:rPr>
              <a:t>09 · EVIDENCE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3161C"/>
                </a:solidFill>
                <a:latin typeface="Libre Franklin"/>
              </a:rPr>
              <a:t>The six quantities the composite runs on</a:t>
            </a:r>
          </a:p>
        </p:txBody>
      </p:sp>
      <p:pic>
        <p:nvPicPr>
          <p:cNvPr id="6" name="Picture 5" descr="evide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50292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1463040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KEY TERMS IN THIS 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737360"/>
            <a:ext cx="5760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log2fc_smm   </a:t>
            </a:r>
            <a:r>
              <a:rPr sz="1100">
                <a:solidFill>
                  <a:srgbClr val="6B5560"/>
                </a:solidFill>
                <a:latin typeface="Source Serif 4"/>
              </a:rPr>
              <a:t>effect size — SMM tumour vs healthy donor (contrast B)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specificity   </a:t>
            </a:r>
            <a:r>
              <a:rPr sz="1100">
                <a:solidFill>
                  <a:srgbClr val="6B5560"/>
                </a:solidFill>
                <a:latin typeface="Source Serif 4"/>
              </a:rPr>
              <a:t>% tumour cells expressing minus % normal plasma cells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recurrence_frac   </a:t>
            </a:r>
            <a:r>
              <a:rPr sz="1100">
                <a:solidFill>
                  <a:srgbClr val="6B5560"/>
                </a:solidFill>
                <a:latin typeface="Source Serif 4"/>
              </a:rPr>
              <a:t>fraction of the 11 paired patients where the gene is genuinely up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smm_coverage_frac   </a:t>
            </a:r>
            <a:r>
              <a:rPr sz="1100">
                <a:solidFill>
                  <a:srgbClr val="6B5560"/>
                </a:solidFill>
                <a:latin typeface="Source Serif 4"/>
              </a:rPr>
              <a:t>fraction of the 12 SMM tumours expressing it at ≥5 CPM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epitope_density   </a:t>
            </a:r>
            <a:r>
              <a:rPr sz="1100">
                <a:solidFill>
                  <a:srgbClr val="6B5560"/>
                </a:solidFill>
                <a:latin typeface="Source Serif 4"/>
              </a:rPr>
              <a:t>strong HLA-I binders per 100 aa — length-normalised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9B2C62"/>
                </a:solidFill>
                <a:latin typeface="Consolas"/>
              </a:rPr>
              <a:t>novelty_confidence   </a:t>
            </a:r>
            <a:r>
              <a:rPr sz="1100">
                <a:solidFill>
                  <a:srgbClr val="6B5560"/>
                </a:solidFill>
                <a:latin typeface="Source Serif 4"/>
              </a:rPr>
              <a:t>0–10 from the grid on the previous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4206240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480560"/>
            <a:ext cx="57607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Colour is scaled within each column. </a:t>
            </a:r>
            <a:r>
              <a:rPr sz="1150">
                <a:solidFill>
                  <a:srgbClr val="6B5560"/>
                </a:solidFill>
                <a:latin typeface="Source Serif 4"/>
              </a:rPr>
              <a:t>Compare down a column, never across. The printed number is raw.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HERC5 rides one column. </a:t>
            </a:r>
            <a:r>
              <a:rPr sz="1150">
                <a:solidFill>
                  <a:srgbClr val="6B5560"/>
                </a:solidFill>
                <a:latin typeface="Source Serif 4"/>
              </a:rPr>
              <a:t>59% of its score is tissue safety alone.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>
                <a:solidFill>
                  <a:srgbClr val="6B5560"/>
                </a:solidFill>
                <a:latin typeface="Source Serif 4"/>
              </a:rPr>
              <a:t>CCND1 pairs the largest fold change with maximum novelty-confidence.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>
                <a:solidFill>
                  <a:srgbClr val="6B5560"/>
                </a:solidFill>
                <a:latin typeface="Source Serif 4"/>
              </a:rPr>
              <a:t>TBXAS1 and MLLT3 show full SMM coverage on modest effect sizes.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8791"/>
                </a:solidFill>
                <a:latin typeface="Consolas"/>
              </a:rPr>
              <a:t>10 · SHORTLIST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3161C"/>
                </a:solidFill>
                <a:latin typeface="Libre Franklin"/>
              </a:rPr>
              <a:t>15 candidates of 32, evidence visible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08760"/>
          <a:ext cx="6766556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116"/>
                <a:gridCol w="1390389"/>
                <a:gridCol w="787887"/>
                <a:gridCol w="463463"/>
                <a:gridCol w="417116"/>
                <a:gridCol w="417116"/>
                <a:gridCol w="556155"/>
                <a:gridCol w="787887"/>
                <a:gridCol w="741540"/>
                <a:gridCol w="787887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9A8791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9A8791"/>
                          </a:solidFill>
                          <a:latin typeface="Consolas"/>
                        </a:rPr>
                        <a:t>Gene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9A8791"/>
                          </a:solidFill>
                          <a:latin typeface="Consolas"/>
                        </a:rPr>
                        <a:t>Score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9A8791"/>
                          </a:solidFill>
                          <a:latin typeface="Consolas"/>
                        </a:rPr>
                        <a:t>N-C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9A8791"/>
                          </a:solidFill>
                          <a:latin typeface="Consolas"/>
                        </a:rPr>
                        <a:t>Cf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9A8791"/>
                          </a:solidFill>
                          <a:latin typeface="Consolas"/>
                        </a:rPr>
                        <a:t>Nv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9A8791"/>
                          </a:solidFill>
                          <a:latin typeface="Consolas"/>
                        </a:rPr>
                        <a:t>Tis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9A8791"/>
                          </a:solidFill>
                          <a:latin typeface="Consolas"/>
                        </a:rPr>
                        <a:t>Recur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9A8791"/>
                          </a:solidFill>
                          <a:latin typeface="Consolas"/>
                        </a:rPr>
                        <a:t>SMM pr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9A8791"/>
                          </a:solidFill>
                          <a:latin typeface="Consolas"/>
                        </a:rPr>
                        <a:t>SMM cov</a:t>
                      </a:r>
                    </a:p>
                  </a:txBody>
                  <a:tcPr marL="54864" marR="54864" marT="18288" marB="18288">
                    <a:solidFill>
                      <a:srgbClr val="F4EEE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CCND1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0.779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9/11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5/5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10/12</a:t>
                      </a:r>
                    </a:p>
                  </a:txBody>
                  <a:tcPr marL="54864" marR="54864" marT="18288" marB="18288">
                    <a:solidFill>
                      <a:srgbClr val="F8EED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FCRLA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0.593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1a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8/11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3/5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10/12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NLGN4X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0.534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6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1a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4/11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2/5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6/12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CD1D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0.520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1a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5/11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2/5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9/12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KIT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0.505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5/11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3/5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6/12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6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SPN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0.498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1a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6/11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4/5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10/12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POU2F2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0.491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1a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9/11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4/5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12/12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8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MLLT3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0.476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6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1a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11/11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5/5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12/12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IGF1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0.472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10/11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4/5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12/12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MYEOV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0.471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7/11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2/5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11/12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TBXAS1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0.471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1a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7/11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5/5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12/12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IFITM1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0.464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8/11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4/5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11/12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HGF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0.459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7/11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3/5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7/12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14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HERC5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0.423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C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1b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8/11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4/5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12/12</a:t>
                      </a:r>
                    </a:p>
                  </a:txBody>
                  <a:tcPr marL="54864" marR="54864" marT="18288" marB="18288">
                    <a:solidFill>
                      <a:srgbClr val="F7E8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15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HEY2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0.410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B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8/11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4/5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161C"/>
                          </a:solidFill>
                          <a:latin typeface="Source Serif 4"/>
                        </a:rPr>
                        <a:t>9/12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508760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764792"/>
            <a:ext cx="4023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9B2C62"/>
                </a:solidFill>
                <a:latin typeface="Consolas"/>
              </a:rPr>
              <a:t>N-C   </a:t>
            </a:r>
            <a:r>
              <a:rPr sz="1000">
                <a:solidFill>
                  <a:srgbClr val="6B5560"/>
                </a:solidFill>
                <a:latin typeface="Source Serif 4"/>
              </a:rPr>
              <a:t>novelty-confidence, 0–10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9B2C62"/>
                </a:solidFill>
                <a:latin typeface="Consolas"/>
              </a:rPr>
              <a:t>Cf / Nv   </a:t>
            </a:r>
            <a:r>
              <a:rPr sz="1000">
                <a:solidFill>
                  <a:srgbClr val="6B5560"/>
                </a:solidFill>
                <a:latin typeface="Source Serif 4"/>
              </a:rPr>
              <a:t>confidence letter / novelty tier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9B2C62"/>
                </a:solidFill>
                <a:latin typeface="Consolas"/>
              </a:rPr>
              <a:t>Tis   </a:t>
            </a:r>
            <a:r>
              <a:rPr sz="1000">
                <a:solidFill>
                  <a:srgbClr val="6B5560"/>
                </a:solidFill>
                <a:latin typeface="Source Serif 4"/>
              </a:rPr>
              <a:t>tissue tier from the safety test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9B2C62"/>
                </a:solidFill>
                <a:latin typeface="Consolas"/>
              </a:rPr>
              <a:t>rose row   </a:t>
            </a:r>
            <a:r>
              <a:rPr sz="1000">
                <a:solidFill>
                  <a:srgbClr val="6B5560"/>
                </a:solidFill>
                <a:latin typeface="Source Serif 4"/>
              </a:rPr>
              <a:t>tier 1a/1b — lymphoid or testis-restricted, the two safest tiers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9B2C62"/>
                </a:solidFill>
                <a:latin typeface="Consolas"/>
              </a:rPr>
              <a:t>amber row   </a:t>
            </a:r>
            <a:r>
              <a:rPr sz="1000">
                <a:solidFill>
                  <a:srgbClr val="6B5560"/>
                </a:solidFill>
                <a:latin typeface="Source Serif 4"/>
              </a:rPr>
              <a:t>antigen NOT retained into MM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9B2C62"/>
                </a:solidFill>
                <a:latin typeface="Consolas"/>
              </a:rPr>
              <a:t>Recur · SMM pr · SMM cov   </a:t>
            </a:r>
            <a:r>
              <a:rPr sz="1000">
                <a:solidFill>
                  <a:srgbClr val="6B5560"/>
                </a:solidFill>
                <a:latin typeface="Source Serif 4"/>
              </a:rPr>
              <a:t>paired patients · paired SMM · SMM tumours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657600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931920"/>
            <a:ext cx="4023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2F6B67"/>
                </a:solidFill>
              </a:rPr>
              <a:t>▸   </a:t>
            </a:r>
            <a:r>
              <a:rPr sz="1050" b="1">
                <a:solidFill>
                  <a:srgbClr val="23161C"/>
                </a:solidFill>
                <a:latin typeface="Libre Franklin"/>
              </a:rPr>
              <a:t>Six are lymphoid-restricted AND confidence A/B. </a:t>
            </a:r>
            <a:r>
              <a:rPr sz="1050">
                <a:solidFill>
                  <a:srgbClr val="6B5560"/>
                </a:solidFill>
                <a:latin typeface="Source Serif 4"/>
              </a:rPr>
              <a:t>FCRLA, NLGN4X, CD1D, SPN, POU2F2, MLLT3 — two independent lines agreeing.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F6B67"/>
                </a:solidFill>
              </a:rPr>
              <a:t>▸   </a:t>
            </a:r>
            <a:r>
              <a:rPr sz="1050" b="1">
                <a:solidFill>
                  <a:srgbClr val="23161C"/>
                </a:solidFill>
                <a:latin typeface="Libre Franklin"/>
              </a:rPr>
              <a:t>FCRLA is the strongest. </a:t>
            </a:r>
            <a:r>
              <a:rPr sz="1050">
                <a:solidFill>
                  <a:srgbClr val="6B5560"/>
                </a:solidFill>
                <a:latin typeface="Source Serif 4"/>
              </a:rPr>
              <a:t>Tightest lymphoid restriction (FDR 9.5e-09), 10/12 SMM coverage, 8/8 in MM.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F6B67"/>
                </a:solidFill>
              </a:rPr>
              <a:t>▸   </a:t>
            </a:r>
            <a:r>
              <a:rPr sz="1050" b="1">
                <a:solidFill>
                  <a:srgbClr val="23161C"/>
                </a:solidFill>
                <a:latin typeface="Libre Franklin"/>
              </a:rPr>
              <a:t>NLGN4X is what data alone could not find. </a:t>
            </a:r>
            <a:r>
              <a:rPr sz="1050">
                <a:solidFill>
                  <a:srgbClr val="6B5560"/>
                </a:solidFill>
                <a:latin typeface="Source Serif 4"/>
              </a:rPr>
              <a:t>Its Y-paralogue is an H-Y minor histocompatibility antigen.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2F6B67"/>
                </a:solidFill>
              </a:rPr>
              <a:t>▸   </a:t>
            </a:r>
            <a:r>
              <a:rPr sz="1050" b="1">
                <a:solidFill>
                  <a:srgbClr val="23161C"/>
                </a:solidFill>
                <a:latin typeface="Libre Franklin"/>
              </a:rPr>
              <a:t>CCND1 at rank 1 is a trap. </a:t>
            </a:r>
            <a:r>
              <a:rPr sz="1050">
                <a:solidFill>
                  <a:srgbClr val="6B5560"/>
                </a:solidFill>
                <a:latin typeface="Source Serif 4"/>
              </a:rPr>
              <a:t>Not retained into MM, t(11;14)-restricted, partly definitional.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8791"/>
                </a:solidFill>
                <a:latin typeface="Consolas"/>
              </a:rPr>
              <a:t>11 · WHAT THE PIPELINE CAUGHT, AND WHAT IT CANNOT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11057839" cy="9525"/>
          </a:xfrm>
          <a:prstGeom prst="rect">
            <a:avLst/>
          </a:prstGeom>
          <a:solidFill>
            <a:srgbClr val="E3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3161C"/>
                </a:solidFill>
                <a:latin typeface="Libre Franklin"/>
              </a:rPr>
              <a:t>Honest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BUGS THIS PIPELINE CAUGHT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A filter that discarded 38 real genes. </a:t>
            </a:r>
            <a:r>
              <a:rPr sz="1150">
                <a:solidFill>
                  <a:srgbClr val="6B5560"/>
                </a:solidFill>
                <a:latin typeface="Source Serif 4"/>
              </a:rPr>
              <a:t>startswith("IG") removed the entire IGF axis.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Two artifacts in an earlier top 15. </a:t>
            </a:r>
            <a:r>
              <a:rPr sz="1150">
                <a:solidFill>
                  <a:srgbClr val="6B5560"/>
                </a:solidFill>
                <a:latin typeface="Source Serif 4"/>
              </a:rPr>
              <a:t>Direction-only recurrence counted near-ties on near-zero values as enrichment.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A cardiac safety flag. </a:t>
            </a:r>
            <a:r>
              <a:rPr sz="1150">
                <a:solidFill>
                  <a:srgbClr val="6B5560"/>
                </a:solidFill>
                <a:latin typeface="Source Serif 4"/>
              </a:rPr>
              <a:t>ST3GAL6 at rank 2, seen only with the full HPA reference.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A gene flat in the indication. </a:t>
            </a:r>
            <a:r>
              <a:rPr sz="1150">
                <a:solidFill>
                  <a:srgbClr val="6B5560"/>
                </a:solidFill>
                <a:latin typeface="Source Serif 4"/>
              </a:rPr>
              <a:t>SLC1A5 reached rank 15 at B log2FC 0.20.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Silent gene loss to a timeout. </a:t>
            </a:r>
            <a:r>
              <a:rPr sz="1150">
                <a:solidFill>
                  <a:srgbClr val="6B5560"/>
                </a:solidFill>
                <a:latin typeface="Source Serif 4"/>
              </a:rPr>
              <a:t>Two candidates vanished on a UniProt fetch.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9A8791"/>
                </a:solidFill>
                <a:latin typeface="Consolas"/>
              </a:rPr>
              <a:t>WHAT IT STILL CANNOT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Self-tolerance is unmodelled. </a:t>
            </a:r>
            <a:r>
              <a:rPr sz="1150">
                <a:solidFill>
                  <a:srgbClr val="6B5560"/>
                </a:solidFill>
                <a:latin typeface="Source Serif 4"/>
              </a:rPr>
              <a:t>Affinity is not immunogenicity; the T-cell repertoire may already be deleted. The biggest reason a shortlist like this fails in the lab.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One LLM claim was checked, and it drifted. </a:t>
            </a:r>
            <a:r>
              <a:rPr sz="1150">
                <a:solidFill>
                  <a:srgbClr val="6B5560"/>
                </a:solidFill>
                <a:latin typeface="Source Serif 4"/>
              </a:rPr>
              <a:t>NCT03591614 is a real DKK1 vaccine in SMM — but dendritic-cell, not the DNA plasmid named, wrong sponsor, withdrawn at zero enrolment. NLGN4X at rank 3 is still unchecked.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Everything is RNA. </a:t>
            </a:r>
            <a:r>
              <a:rPr sz="1150">
                <a:solidFill>
                  <a:srgbClr val="6B5560"/>
                </a:solidFill>
                <a:latin typeface="Source Serif 4"/>
              </a:rPr>
              <a:t>CPQ stains highest in kidney and liver — that would be tier 3.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F6B67"/>
                </a:solidFill>
              </a:rPr>
              <a:t>▸   </a:t>
            </a:r>
            <a:r>
              <a:rPr sz="1150" b="1">
                <a:solidFill>
                  <a:srgbClr val="23161C"/>
                </a:solidFill>
                <a:latin typeface="Libre Franklin"/>
              </a:rPr>
              <a:t>The labels are partly circular. </a:t>
            </a:r>
            <a:r>
              <a:rPr sz="1150">
                <a:solidFill>
                  <a:srgbClr val="6B5560"/>
                </a:solidFill>
                <a:latin typeface="Source Serif 4"/>
              </a:rPr>
              <a:t>Neoplastic status came from clustering, so DE re-derives cluster genes.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